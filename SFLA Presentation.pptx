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Alfa Slab On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8af729ff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8af729ff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image here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8af729ff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8af729ff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8af729ff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a8af729ff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 may evaporate, run off on the surface, or infiltrate and move through the soil or ground water, making the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8af729ff8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8af729ff8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8af729ff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8af729ff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8af729ff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8af729ff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8af729ff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8af729ff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8af729ff8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8af729ff8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8af729ff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8af729ff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8af729ff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8af729ff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8af729ff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8af729ff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8af729ff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a8af729ff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8af729ff8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8af729ff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8af729ff8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8af729ff8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8af729ff8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a8af729ff8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8af729ff8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a8af729ff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8af729ff8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a8af729ff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8af729ff8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8af729ff8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8af729ff8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8af729ff8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researchgate.net/publication/339570637_A_GENETIC-FROG_LEAPING_ALGORITHM_FOR_TEXT_DOCUMENT_CLUSTERING?_tp=eyJjb250ZXh0Ijp7ImZpcnN0UGFnZSI6InByb2ZpbGUiLCJwYWdlIjoiX2RpcmVjdCJ9f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268750"/>
            <a:ext cx="43038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Shuffled Frog Leaping Algorithm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25" y="4623100"/>
            <a:ext cx="9144000" cy="520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118725" y="2250450"/>
            <a:ext cx="2207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By Kevin Chan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AutoNum type="arabicParenR"/>
            </a:pPr>
            <a:r>
              <a:rPr lang="en" sz="2900"/>
              <a:t>Understanding Shuffled Frog Leaping Algorithm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AutoNum type="arabicParenR"/>
            </a:pPr>
            <a:r>
              <a:rPr lang="en" sz="2900"/>
              <a:t>Basic Example</a:t>
            </a:r>
            <a:endParaRPr sz="2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SFLA?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Biological animal behavior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Meta-heuristic algorithm for combinatorial-type optimization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921525" y="2098550"/>
            <a:ext cx="2524500" cy="1781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Frogs in a swamp helping one another find the place with the most food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697025" y="2098550"/>
            <a:ext cx="2524500" cy="178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Candidate solutions in a feasible set helping each other find optimum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795875" y="2613500"/>
            <a:ext cx="1551300" cy="751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SFLA useful?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Can be used in complex hydrology and neural network applications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Water distribution networks*, groundwater model calibration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LeNet training on classification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Global optimality as time </a:t>
            </a:r>
            <a:r>
              <a:rPr i="1" lang="en" sz="2100"/>
              <a:t>t</a:t>
            </a:r>
            <a:r>
              <a:rPr lang="en" sz="2100"/>
              <a:t> goes to ∞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Growing in popularity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50376" y="3212300"/>
            <a:ext cx="2626524" cy="16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6748000" y="2384425"/>
            <a:ext cx="1929000" cy="952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Wow, so cool!!!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63" y="425050"/>
            <a:ext cx="7931876" cy="42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7054675" y="4607600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Maaroof et al. 2022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1129800" y="1669650"/>
            <a:ext cx="6884400" cy="18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So how do we apply SFLA?</a:t>
            </a:r>
            <a:endParaRPr sz="3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388" y="346150"/>
            <a:ext cx="1845225" cy="18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Initialization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Create a population of frogs denoted with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lang="en">
                <a:solidFill>
                  <a:srgbClr val="000000"/>
                </a:solidFill>
              </a:rPr>
              <a:t>1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lang="en">
                <a:solidFill>
                  <a:srgbClr val="000000"/>
                </a:solidFill>
              </a:rPr>
              <a:t>2</a:t>
            </a:r>
            <a:r>
              <a:rPr lang="en">
                <a:solidFill>
                  <a:srgbClr val="000000"/>
                </a:solidFill>
              </a:rPr>
              <a:t>, …,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lang="en">
                <a:solidFill>
                  <a:srgbClr val="000000"/>
                </a:solidFill>
              </a:rPr>
              <a:t>F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Frog </a:t>
            </a:r>
            <a:r>
              <a:rPr i="1" lang="en">
                <a:solidFill>
                  <a:srgbClr val="000000"/>
                </a:solidFill>
              </a:rPr>
              <a:t>i </a:t>
            </a:r>
            <a:r>
              <a:rPr lang="en">
                <a:solidFill>
                  <a:srgbClr val="000000"/>
                </a:solidFill>
              </a:rPr>
              <a:t>is a decision vector variable such that:</a:t>
            </a:r>
            <a:endParaRPr i="1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i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=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i</a:t>
            </a:r>
            <a:r>
              <a:rPr baseline="30000" lang="en">
                <a:solidFill>
                  <a:srgbClr val="000000"/>
                </a:solidFill>
              </a:rPr>
              <a:t>1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i</a:t>
            </a:r>
            <a:r>
              <a:rPr baseline="30000" lang="en">
                <a:solidFill>
                  <a:srgbClr val="000000"/>
                </a:solidFill>
              </a:rPr>
              <a:t>2</a:t>
            </a:r>
            <a:r>
              <a:rPr lang="en">
                <a:solidFill>
                  <a:srgbClr val="000000"/>
                </a:solidFill>
              </a:rPr>
              <a:t>, …,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i</a:t>
            </a:r>
            <a:r>
              <a:rPr baseline="30000" lang="en">
                <a:solidFill>
                  <a:srgbClr val="000000"/>
                </a:solidFill>
              </a:rPr>
              <a:t>d</a:t>
            </a:r>
            <a:r>
              <a:rPr lang="en">
                <a:solidFill>
                  <a:srgbClr val="000000"/>
                </a:solidFill>
              </a:rPr>
              <a:t> where </a:t>
            </a:r>
            <a:r>
              <a:rPr i="1" lang="en">
                <a:solidFill>
                  <a:srgbClr val="000000"/>
                </a:solidFill>
              </a:rPr>
              <a:t>d </a:t>
            </a:r>
            <a:r>
              <a:rPr lang="en">
                <a:solidFill>
                  <a:srgbClr val="000000"/>
                </a:solidFill>
              </a:rPr>
              <a:t>defines the number of decision variables for each frog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60367" t="0"/>
          <a:stretch/>
        </p:blipFill>
        <p:spPr>
          <a:xfrm>
            <a:off x="3870517" y="2670625"/>
            <a:ext cx="1402974" cy="21283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9"/>
          <p:cNvSpPr txBox="1"/>
          <p:nvPr/>
        </p:nvSpPr>
        <p:spPr>
          <a:xfrm>
            <a:off x="5567850" y="4506950"/>
            <a:ext cx="22692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Alhenaki, L. 2019.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57224" t="0"/>
          <a:stretch/>
        </p:blipFill>
        <p:spPr>
          <a:xfrm>
            <a:off x="6361112" y="145850"/>
            <a:ext cx="2121325" cy="48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414225" y="1060925"/>
            <a:ext cx="5579700" cy="3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1)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Define: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- the number of memplexes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-  the number of frogs within each memeplex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im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- the counter for the memeplexes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in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- the counter for the sub-memeplexes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- the number of local evolutionary steps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2) Generate the population with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m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*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n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such that each frog is in the feasible space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Ω </a:t>
            </a:r>
            <a:endParaRPr i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Ω 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∈ S</a:t>
            </a:r>
            <a:r>
              <a:rPr baseline="30000" lang="en" sz="1800"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3) Evaluate the fitness of each frog with function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Algorithm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</a:t>
            </a:r>
            <a:r>
              <a:rPr lang="en" sz="1100"/>
              <a:t>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Algorithm Part 2</a:t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414225" y="1060925"/>
            <a:ext cx="5579700" cy="3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) Rank the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many frogs in descending order based on the fitness function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Can use U</a:t>
            </a:r>
            <a:r>
              <a:rPr baseline="-25000" lang="en" sz="1800"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as notation for i = 1, ...,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where i = 1 is the first best frog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5) Divide the frogs into memeplexes in order of the descending order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6) Evolve the memetic by entering local exploration!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0" l="0" r="57224" t="0"/>
          <a:stretch/>
        </p:blipFill>
        <p:spPr>
          <a:xfrm>
            <a:off x="6361112" y="145850"/>
            <a:ext cx="2121325" cy="48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 rot="-2512910">
            <a:off x="7960842" y="1633815"/>
            <a:ext cx="557672" cy="41065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 now?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3">
            <a:alphaModFix/>
          </a:blip>
          <a:srcRect b="0" l="0" r="57224" t="0"/>
          <a:stretch/>
        </p:blipFill>
        <p:spPr>
          <a:xfrm>
            <a:off x="4463862" y="145850"/>
            <a:ext cx="2121325" cy="48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/>
          <p:nvPr/>
        </p:nvSpPr>
        <p:spPr>
          <a:xfrm>
            <a:off x="6027492" y="2934746"/>
            <a:ext cx="557700" cy="410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6523250" y="2950350"/>
            <a:ext cx="833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Here!</a:t>
            </a:r>
            <a:endParaRPr b="1"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Strategy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459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1) Add one to the counter for </a:t>
            </a:r>
            <a:r>
              <a:rPr i="1" lang="en">
                <a:solidFill>
                  <a:srgbClr val="000000"/>
                </a:solidFill>
              </a:rPr>
              <a:t>im</a:t>
            </a:r>
            <a:r>
              <a:rPr lang="en">
                <a:solidFill>
                  <a:srgbClr val="000000"/>
                </a:solidFill>
              </a:rPr>
              <a:t> to signify the beginning of a local search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2) Create a sub-memeplex by choosing </a:t>
            </a:r>
            <a:r>
              <a:rPr i="1" lang="en">
                <a:solidFill>
                  <a:srgbClr val="000000"/>
                </a:solidFill>
              </a:rPr>
              <a:t>q</a:t>
            </a:r>
            <a:r>
              <a:rPr lang="en">
                <a:solidFill>
                  <a:srgbClr val="000000"/>
                </a:solidFill>
              </a:rPr>
              <a:t>-many frogs within each memeplex according to a triangular probability distribution where greater weights are given to frogs with greater performance: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 Let the best frog in the sub-memeplex have position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baseline="-25000" i="1" lang="en">
                <a:solidFill>
                  <a:srgbClr val="000000"/>
                </a:solidFill>
              </a:rPr>
              <a:t>B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and the worst fitness frog in the sub-memeplex have position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baseline="-25000" i="1" lang="en">
                <a:solidFill>
                  <a:srgbClr val="000000"/>
                </a:solidFill>
              </a:rPr>
              <a:t>W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43649" r="0" t="0"/>
          <a:stretch/>
        </p:blipFill>
        <p:spPr>
          <a:xfrm>
            <a:off x="5645275" y="292925"/>
            <a:ext cx="2625199" cy="45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 rotWithShape="1">
          <a:blip r:embed="rId4">
            <a:alphaModFix/>
          </a:blip>
          <a:srcRect b="4170" l="0" r="0" t="-4170"/>
          <a:stretch/>
        </p:blipFill>
        <p:spPr>
          <a:xfrm>
            <a:off x="469900" y="2774450"/>
            <a:ext cx="3959600" cy="7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Strategy Part 2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459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3) Arrange the </a:t>
            </a:r>
            <a:r>
              <a:rPr i="1" lang="en">
                <a:solidFill>
                  <a:srgbClr val="000000"/>
                </a:solidFill>
              </a:rPr>
              <a:t>q </a:t>
            </a:r>
            <a:r>
              <a:rPr lang="en">
                <a:solidFill>
                  <a:srgbClr val="000000"/>
                </a:solidFill>
              </a:rPr>
              <a:t>frogs in the sub-memeplex in descending order and set </a:t>
            </a:r>
            <a:r>
              <a:rPr i="1" lang="en">
                <a:solidFill>
                  <a:srgbClr val="000000"/>
                </a:solidFill>
              </a:rPr>
              <a:t>iq</a:t>
            </a:r>
            <a:r>
              <a:rPr lang="en">
                <a:solidFill>
                  <a:srgbClr val="000000"/>
                </a:solidFill>
              </a:rPr>
              <a:t> = 1 as the index of the best frog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4) Calculate the step size </a:t>
            </a:r>
            <a:r>
              <a:rPr i="1" lang="en">
                <a:solidFill>
                  <a:srgbClr val="000000"/>
                </a:solidFill>
              </a:rPr>
              <a:t>S</a:t>
            </a:r>
            <a:r>
              <a:rPr lang="en">
                <a:solidFill>
                  <a:srgbClr val="000000"/>
                </a:solidFill>
              </a:rPr>
              <a:t> with the following equations: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where </a:t>
            </a:r>
            <a:r>
              <a:rPr i="1" lang="en">
                <a:solidFill>
                  <a:srgbClr val="000000"/>
                </a:solidFill>
              </a:rPr>
              <a:t>rand</a:t>
            </a:r>
            <a:r>
              <a:rPr lang="en">
                <a:solidFill>
                  <a:srgbClr val="000000"/>
                </a:solidFill>
              </a:rPr>
              <a:t> represents a random number in the range [0,1] and </a:t>
            </a:r>
            <a:r>
              <a:rPr i="1" lang="en">
                <a:solidFill>
                  <a:srgbClr val="000000"/>
                </a:solidFill>
              </a:rPr>
              <a:t>S</a:t>
            </a:r>
            <a:r>
              <a:rPr baseline="-25000" i="1" lang="en">
                <a:solidFill>
                  <a:srgbClr val="000000"/>
                </a:solidFill>
              </a:rPr>
              <a:t>max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represent the maximum step size for the frog to “jump”.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5) Then perform the update: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(q)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=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baseline="-25000" i="1" lang="en">
                <a:solidFill>
                  <a:srgbClr val="000000"/>
                </a:solidFill>
              </a:rPr>
              <a:t>W</a:t>
            </a:r>
            <a:r>
              <a:rPr i="1" lang="en">
                <a:solidFill>
                  <a:srgbClr val="000000"/>
                </a:solidFill>
              </a:rPr>
              <a:t> + 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the position of the worst frog.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 rotWithShape="1">
          <a:blip r:embed="rId3">
            <a:alphaModFix/>
          </a:blip>
          <a:srcRect b="0" l="43649" r="0" t="0"/>
          <a:stretch/>
        </p:blipFill>
        <p:spPr>
          <a:xfrm>
            <a:off x="5645275" y="292925"/>
            <a:ext cx="2625199" cy="45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/>
          <p:nvPr/>
        </p:nvSpPr>
        <p:spPr>
          <a:xfrm>
            <a:off x="6995492" y="1017721"/>
            <a:ext cx="557700" cy="410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5" name="Google Shape;145;p24"/>
          <p:cNvPicPr preferRelativeResize="0"/>
          <p:nvPr/>
        </p:nvPicPr>
        <p:blipFill rotWithShape="1">
          <a:blip r:embed="rId4">
            <a:alphaModFix/>
          </a:blip>
          <a:srcRect b="0" l="7209" r="0" t="0"/>
          <a:stretch/>
        </p:blipFill>
        <p:spPr>
          <a:xfrm>
            <a:off x="539375" y="2037450"/>
            <a:ext cx="4032625" cy="6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875" y="120500"/>
            <a:ext cx="5510901" cy="46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Maaroof et al. 2022</a:t>
            </a:r>
            <a:r>
              <a:rPr lang="en" sz="1100"/>
              <a:t>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Strategy Part 3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459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6) Now we must assess the fitness of the new “worst” frog. If the new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(q)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exceeds the previous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(q)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then we perform the local exploration again. If it is not, then we progress to the next step of the diagram.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7) We now must perform the following update: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and do: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(q)</a:t>
            </a:r>
            <a:r>
              <a:rPr i="1" lang="en">
                <a:solidFill>
                  <a:srgbClr val="000000"/>
                </a:solidFill>
              </a:rPr>
              <a:t> = P</a:t>
            </a:r>
            <a:r>
              <a:rPr baseline="-25000" i="1" lang="en">
                <a:solidFill>
                  <a:srgbClr val="000000"/>
                </a:solidFill>
              </a:rPr>
              <a:t>W</a:t>
            </a:r>
            <a:r>
              <a:rPr i="1" lang="en">
                <a:solidFill>
                  <a:srgbClr val="000000"/>
                </a:solidFill>
              </a:rPr>
              <a:t> + S</a:t>
            </a:r>
            <a:endParaRPr i="1">
              <a:solidFill>
                <a:srgbClr val="000000"/>
              </a:solidFill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43649" r="0" t="0"/>
          <a:stretch/>
        </p:blipFill>
        <p:spPr>
          <a:xfrm>
            <a:off x="5645275" y="292925"/>
            <a:ext cx="2625199" cy="45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/>
          <p:nvPr/>
        </p:nvSpPr>
        <p:spPr>
          <a:xfrm>
            <a:off x="6970742" y="1592921"/>
            <a:ext cx="557700" cy="410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6"/>
          <p:cNvSpPr/>
          <p:nvPr/>
        </p:nvSpPr>
        <p:spPr>
          <a:xfrm rot="-9760493">
            <a:off x="4758757" y="2079480"/>
            <a:ext cx="886521" cy="41076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47076"/>
            <a:ext cx="4936900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Strategy Part 4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152475"/>
            <a:ext cx="459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8) See if the newly generated frog </a:t>
            </a:r>
            <a:r>
              <a:rPr i="1" lang="en">
                <a:solidFill>
                  <a:srgbClr val="000000"/>
                </a:solidFill>
              </a:rPr>
              <a:t>U</a:t>
            </a:r>
            <a:r>
              <a:rPr baseline="-25000" i="1" lang="en">
                <a:solidFill>
                  <a:srgbClr val="000000"/>
                </a:solidFill>
              </a:rPr>
              <a:t>(q)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is indeed better than the worst one within the sub-memeplex. If no, then we generate a new frog within the sub-memeplex to replace the worst frog. If yes, then we replace the worst frog. We then update the memeplex.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9) We check if </a:t>
            </a:r>
            <a:r>
              <a:rPr i="1" lang="en">
                <a:solidFill>
                  <a:srgbClr val="000000"/>
                </a:solidFill>
              </a:rPr>
              <a:t>iN</a:t>
            </a:r>
            <a:r>
              <a:rPr lang="en">
                <a:solidFill>
                  <a:srgbClr val="000000"/>
                </a:solidFill>
              </a:rPr>
              <a:t> &lt;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to see if we have finished our local searches for the sub-memeplex. If yes, we perform the local search again. If not, then we increment </a:t>
            </a:r>
            <a:r>
              <a:rPr i="1" lang="en">
                <a:solidFill>
                  <a:srgbClr val="000000"/>
                </a:solidFill>
              </a:rPr>
              <a:t>im</a:t>
            </a:r>
            <a:r>
              <a:rPr lang="en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10) If </a:t>
            </a:r>
            <a:r>
              <a:rPr i="1" lang="en">
                <a:solidFill>
                  <a:srgbClr val="000000"/>
                </a:solidFill>
              </a:rPr>
              <a:t>im </a:t>
            </a:r>
            <a:r>
              <a:rPr lang="en">
                <a:solidFill>
                  <a:srgbClr val="000000"/>
                </a:solidFill>
              </a:rPr>
              <a:t>&lt; </a:t>
            </a:r>
            <a:r>
              <a:rPr i="1" lang="en">
                <a:solidFill>
                  <a:srgbClr val="000000"/>
                </a:solidFill>
              </a:rPr>
              <a:t>m</a:t>
            </a:r>
            <a:r>
              <a:rPr lang="en">
                <a:solidFill>
                  <a:srgbClr val="000000"/>
                </a:solidFill>
              </a:rPr>
              <a:t>, we perform another round of local updates by redefining sub-memeplexes.  If </a:t>
            </a:r>
            <a:r>
              <a:rPr i="1" lang="en">
                <a:solidFill>
                  <a:srgbClr val="000000"/>
                </a:solidFill>
              </a:rPr>
              <a:t>im</a:t>
            </a:r>
            <a:r>
              <a:rPr lang="en">
                <a:solidFill>
                  <a:srgbClr val="000000"/>
                </a:solidFill>
              </a:rPr>
              <a:t> = </a:t>
            </a:r>
            <a:r>
              <a:rPr i="1" lang="en">
                <a:solidFill>
                  <a:srgbClr val="000000"/>
                </a:solidFill>
              </a:rPr>
              <a:t>m</a:t>
            </a:r>
            <a:r>
              <a:rPr lang="en">
                <a:solidFill>
                  <a:srgbClr val="000000"/>
                </a:solidFill>
              </a:rPr>
              <a:t>, then we move back to global search to shuffle the memeplexes.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43649" r="0" t="0"/>
          <a:stretch/>
        </p:blipFill>
        <p:spPr>
          <a:xfrm>
            <a:off x="5645275" y="292925"/>
            <a:ext cx="2625199" cy="45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/>
          <p:nvPr/>
        </p:nvSpPr>
        <p:spPr>
          <a:xfrm rot="-1468168">
            <a:off x="6742706" y="2853900"/>
            <a:ext cx="557691" cy="41068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201150" y="1102800"/>
            <a:ext cx="8741700" cy="29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We have now fully performed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one batch</a:t>
            </a: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 of local searches for our memeplexes!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413" y="93575"/>
            <a:ext cx="3275175" cy="18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4">
            <a:alphaModFix/>
          </a:blip>
          <a:srcRect b="24408" l="0" r="0" t="0"/>
          <a:stretch/>
        </p:blipFill>
        <p:spPr>
          <a:xfrm flipH="1">
            <a:off x="3517325" y="3077200"/>
            <a:ext cx="2109362" cy="18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Algorithm Part 3</a:t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414225" y="1060925"/>
            <a:ext cx="5579700" cy="3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7) We now shuffle the memeplexes and reorganize them based on all of the frogs current fitness values using the same ordering scheme.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8) We verify convergence criterion. If criterion is met, then we stop the SFLA process. If it is not, then we continue and rank the frogs again.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 rotWithShape="1">
          <a:blip r:embed="rId3">
            <a:alphaModFix/>
          </a:blip>
          <a:srcRect b="0" l="0" r="57224" t="0"/>
          <a:stretch/>
        </p:blipFill>
        <p:spPr>
          <a:xfrm>
            <a:off x="6361112" y="145850"/>
            <a:ext cx="2121325" cy="48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/>
          <p:nvPr/>
        </p:nvSpPr>
        <p:spPr>
          <a:xfrm rot="-2512910">
            <a:off x="8027917" y="3042440"/>
            <a:ext cx="557672" cy="41065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7426375" y="85175"/>
            <a:ext cx="1579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Han et al. 2013.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/>
        </p:nvSpPr>
        <p:spPr>
          <a:xfrm>
            <a:off x="64350" y="1659450"/>
            <a:ext cx="90153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Basic Example Time!</a:t>
            </a:r>
            <a:endParaRPr b="1" sz="7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3">
            <a:alphaModFix/>
          </a:blip>
          <a:srcRect b="6890" l="0" r="0" t="0"/>
          <a:stretch/>
        </p:blipFill>
        <p:spPr>
          <a:xfrm>
            <a:off x="623725" y="89900"/>
            <a:ext cx="1576650" cy="211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2400" y="3012050"/>
            <a:ext cx="1938275" cy="19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275" y="3543575"/>
            <a:ext cx="2558324" cy="11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2928" y="89900"/>
            <a:ext cx="2597226" cy="21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/>
          <p:nvPr/>
        </p:nvSpPr>
        <p:spPr>
          <a:xfrm>
            <a:off x="3300200" y="4494200"/>
            <a:ext cx="24819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Github: SaadHasib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1278450" y="1672950"/>
            <a:ext cx="65871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b="1" sz="60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Alhenaki, Lubna. 2019. A Genetic-Frog Leaping Algorithm for Text Document Clustering. </a:t>
            </a:r>
            <a:r>
              <a:rPr i="1" lang="en"/>
              <a:t>ResearchGate</a:t>
            </a:r>
            <a:r>
              <a:rPr lang="en"/>
              <a:t>.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 et al. 2013. Shuffled Frog Leaping Algorithm for Preemptive Project Scheduling Problems with Resource Vacations Based on Patterson Set. </a:t>
            </a:r>
            <a:r>
              <a:rPr i="1" lang="en"/>
              <a:t>Journal of Applied Mathematics</a:t>
            </a:r>
            <a:r>
              <a:rPr lang="en"/>
              <a:t>. doi: 10.1155/2013/451090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Maaroof et al. 2022. Current Studies and Applications of Shuffled Frog Leaping Algorithm: A Review. </a:t>
            </a:r>
            <a:r>
              <a:rPr i="1" lang="en"/>
              <a:t>Archives of Computational Methods in Engineering </a:t>
            </a:r>
            <a:r>
              <a:rPr lang="en"/>
              <a:t>29. 3459-3474. doi: 10.1007/s11831-021-09707-2Abs1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Saadi, S. et al. 2022. Investigation of Effectiveness of Shuffled Frog-Leaping Optimizer in Training a Convolutional Neural Network. </a:t>
            </a:r>
            <a:r>
              <a:rPr i="1" lang="en"/>
              <a:t>Journal of Healthcare Engineering</a:t>
            </a:r>
            <a:r>
              <a:rPr lang="en"/>
              <a:t>. doi: 10.1155/2022/4703682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